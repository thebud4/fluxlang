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erriweather" charset="1" panose="00000500000000000000"/>
      <p:regular r:id="rId19"/>
    </p:embeddedFont>
    <p:embeddedFont>
      <p:font typeface="Merriweather Italics" charset="1" panose="00000500000000000000"/>
      <p:regular r:id="rId22"/>
    </p:embeddedFont>
    <p:embeddedFont>
      <p:font typeface="Merriweather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564" y="1941652"/>
            <a:ext cx="9277521" cy="291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3"/>
              </a:lnSpc>
            </a:pPr>
            <a:r>
              <a:rPr lang="en-US" sz="6004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Construção de Compiladores: A Linguagem FluxLang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564" y="5213585"/>
            <a:ext cx="9277521" cy="133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0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Apresentação do Trabalho Bimestral de Compiladores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5801" y="6895681"/>
            <a:ext cx="2273732" cy="478555"/>
            <a:chOff x="0" y="0"/>
            <a:chExt cx="3031642" cy="6380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1617" cy="638048"/>
            </a:xfrm>
            <a:custGeom>
              <a:avLst/>
              <a:gdLst/>
              <a:ahLst/>
              <a:cxnLst/>
              <a:rect r="r" b="b" t="t" l="l"/>
              <a:pathLst>
                <a:path h="638048" w="3031617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2890520" y="0"/>
                  </a:lnTo>
                  <a:cubicBezTo>
                    <a:pt x="2968498" y="0"/>
                    <a:pt x="3031617" y="63246"/>
                    <a:pt x="3031617" y="141097"/>
                  </a:cubicBezTo>
                  <a:lnTo>
                    <a:pt x="3031617" y="496951"/>
                  </a:lnTo>
                  <a:cubicBezTo>
                    <a:pt x="3031617" y="574929"/>
                    <a:pt x="2968371" y="638048"/>
                    <a:pt x="2890520" y="638048"/>
                  </a:cubicBezTo>
                  <a:lnTo>
                    <a:pt x="141097" y="638048"/>
                  </a:lnTo>
                  <a:cubicBezTo>
                    <a:pt x="63246" y="638048"/>
                    <a:pt x="0" y="574929"/>
                    <a:pt x="0" y="49695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579" r="0" b="-42583"/>
              </a:stretch>
            </a:blipFill>
            <a:ln w="9532" cap="sq">
              <a:solidFill>
                <a:srgbClr val="609DF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65701" y="7002466"/>
            <a:ext cx="2809027" cy="27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BRUNO MOURA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494303" y="6895681"/>
            <a:ext cx="1918506" cy="478555"/>
            <a:chOff x="0" y="0"/>
            <a:chExt cx="2558009" cy="6380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7907" cy="638048"/>
            </a:xfrm>
            <a:custGeom>
              <a:avLst/>
              <a:gdLst/>
              <a:ahLst/>
              <a:cxnLst/>
              <a:rect r="r" b="b" t="t" l="l"/>
              <a:pathLst>
                <a:path h="638048" w="2557907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2416810" y="0"/>
                  </a:lnTo>
                  <a:cubicBezTo>
                    <a:pt x="2494788" y="0"/>
                    <a:pt x="2557907" y="63246"/>
                    <a:pt x="2557907" y="141097"/>
                  </a:cubicBezTo>
                  <a:lnTo>
                    <a:pt x="2557907" y="496951"/>
                  </a:lnTo>
                  <a:cubicBezTo>
                    <a:pt x="2557907" y="574929"/>
                    <a:pt x="2494661" y="638048"/>
                    <a:pt x="2416810" y="638048"/>
                  </a:cubicBezTo>
                  <a:lnTo>
                    <a:pt x="141097" y="638048"/>
                  </a:lnTo>
                  <a:cubicBezTo>
                    <a:pt x="63246" y="638048"/>
                    <a:pt x="0" y="574929"/>
                    <a:pt x="0" y="49695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8115" r="-3" b="-28119"/>
              </a:stretch>
            </a:blipFill>
            <a:ln w="9532" cap="sq">
              <a:solidFill>
                <a:srgbClr val="609D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684203" y="7002466"/>
            <a:ext cx="2453802" cy="27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GUILHERME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557580" y="6895681"/>
            <a:ext cx="2517400" cy="478555"/>
            <a:chOff x="0" y="0"/>
            <a:chExt cx="3356534" cy="6380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56483" cy="638048"/>
            </a:xfrm>
            <a:custGeom>
              <a:avLst/>
              <a:gdLst/>
              <a:ahLst/>
              <a:cxnLst/>
              <a:rect r="r" b="b" t="t" l="l"/>
              <a:pathLst>
                <a:path h="638048" w="3356483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3215386" y="0"/>
                  </a:lnTo>
                  <a:cubicBezTo>
                    <a:pt x="3293364" y="0"/>
                    <a:pt x="3356483" y="63246"/>
                    <a:pt x="3356483" y="141097"/>
                  </a:cubicBezTo>
                  <a:lnTo>
                    <a:pt x="3356483" y="496951"/>
                  </a:lnTo>
                  <a:cubicBezTo>
                    <a:pt x="3356483" y="574929"/>
                    <a:pt x="3293237" y="638048"/>
                    <a:pt x="3215386" y="638048"/>
                  </a:cubicBezTo>
                  <a:lnTo>
                    <a:pt x="141097" y="638048"/>
                  </a:lnTo>
                  <a:cubicBezTo>
                    <a:pt x="63246" y="638048"/>
                    <a:pt x="0" y="574929"/>
                    <a:pt x="0" y="49695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501" r="-1" b="-52505"/>
              </a:stretch>
            </a:blipFill>
            <a:ln w="9532" cap="sq">
              <a:solidFill>
                <a:srgbClr val="609D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747480" y="7002466"/>
            <a:ext cx="3052686" cy="27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MURILO PISTORE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19742" y="6895681"/>
            <a:ext cx="1197635" cy="478555"/>
            <a:chOff x="0" y="0"/>
            <a:chExt cx="1596847" cy="6380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96771" cy="638048"/>
            </a:xfrm>
            <a:custGeom>
              <a:avLst/>
              <a:gdLst/>
              <a:ahLst/>
              <a:cxnLst/>
              <a:rect r="r" b="b" t="t" l="l"/>
              <a:pathLst>
                <a:path h="638048" w="1596771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1455674" y="0"/>
                  </a:lnTo>
                  <a:cubicBezTo>
                    <a:pt x="1533652" y="0"/>
                    <a:pt x="1596771" y="63246"/>
                    <a:pt x="1596771" y="141097"/>
                  </a:cubicBezTo>
                  <a:lnTo>
                    <a:pt x="1596771" y="496951"/>
                  </a:lnTo>
                  <a:cubicBezTo>
                    <a:pt x="1596771" y="574929"/>
                    <a:pt x="1533525" y="638048"/>
                    <a:pt x="1455674" y="638048"/>
                  </a:cubicBezTo>
                  <a:lnTo>
                    <a:pt x="141097" y="638048"/>
                  </a:lnTo>
                  <a:cubicBezTo>
                    <a:pt x="63246" y="638048"/>
                    <a:pt x="0" y="574929"/>
                    <a:pt x="0" y="49695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68" t="0" r="-1272" b="-3"/>
              </a:stretch>
            </a:blipFill>
            <a:ln w="9532" cap="sq">
              <a:solidFill>
                <a:srgbClr val="609DF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409642" y="7002466"/>
            <a:ext cx="1732921" cy="27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76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PAULO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907247"/>
            <a:ext cx="16140713" cy="88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Sumário da Apresentação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564" y="2284962"/>
            <a:ext cx="549888" cy="343614"/>
            <a:chOff x="0" y="0"/>
            <a:chExt cx="733184" cy="4581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0564" y="2714063"/>
            <a:ext cx="7947927" cy="38129"/>
            <a:chOff x="0" y="0"/>
            <a:chExt cx="10597236" cy="50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0564" y="2918279"/>
            <a:ext cx="7947927" cy="86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 que é um Compilador e a Linguagem FluxLang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73350" y="2284962"/>
            <a:ext cx="549888" cy="343614"/>
            <a:chOff x="0" y="0"/>
            <a:chExt cx="733184" cy="4581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73350" y="2714063"/>
            <a:ext cx="7947927" cy="38129"/>
            <a:chOff x="0" y="0"/>
            <a:chExt cx="10597236" cy="50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73350" y="2918279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Testes de Validação: Código Válido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564" y="4238215"/>
            <a:ext cx="549888" cy="343614"/>
            <a:chOff x="0" y="0"/>
            <a:chExt cx="733184" cy="4581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0564" y="4667326"/>
            <a:ext cx="7947927" cy="38129"/>
            <a:chOff x="0" y="0"/>
            <a:chExt cx="10597236" cy="508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80564" y="4871533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Testes de Validação: Código Inválido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73350" y="4238215"/>
            <a:ext cx="549888" cy="343614"/>
            <a:chOff x="0" y="0"/>
            <a:chExt cx="733184" cy="4581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73350" y="4667326"/>
            <a:ext cx="7947927" cy="38129"/>
            <a:chOff x="0" y="0"/>
            <a:chExt cx="10597236" cy="50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73350" y="4871533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Etapas de Análise: Léxica, Sintática e Semântica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564" y="5761768"/>
            <a:ext cx="549888" cy="343614"/>
            <a:chOff x="0" y="0"/>
            <a:chExt cx="733184" cy="4581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0564" y="6190879"/>
            <a:ext cx="7947927" cy="38129"/>
            <a:chOff x="0" y="0"/>
            <a:chExt cx="10597236" cy="50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80564" y="6395085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Gramática Formal em Backus-Naur (BNF)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73350" y="5761768"/>
            <a:ext cx="549888" cy="343614"/>
            <a:chOff x="0" y="0"/>
            <a:chExt cx="733184" cy="45815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73350" y="6190879"/>
            <a:ext cx="7947927" cy="38129"/>
            <a:chOff x="0" y="0"/>
            <a:chExt cx="10597236" cy="508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273350" y="6395085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Implementação e Ferramentas do Compilador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80564" y="7285320"/>
            <a:ext cx="549888" cy="343614"/>
            <a:chOff x="0" y="0"/>
            <a:chExt cx="733184" cy="4581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07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0564" y="7714431"/>
            <a:ext cx="7947927" cy="38129"/>
            <a:chOff x="0" y="0"/>
            <a:chExt cx="10597236" cy="508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80564" y="7918637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Demonstração Prática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273350" y="7285320"/>
            <a:ext cx="549888" cy="343614"/>
            <a:chOff x="0" y="0"/>
            <a:chExt cx="733184" cy="4581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3185" cy="458154"/>
            </a:xfrm>
            <a:custGeom>
              <a:avLst/>
              <a:gdLst/>
              <a:ahLst/>
              <a:cxnLst/>
              <a:rect r="r" b="b" t="t" l="l"/>
              <a:pathLst>
                <a:path h="458154" w="733185">
                  <a:moveTo>
                    <a:pt x="0" y="0"/>
                  </a:moveTo>
                  <a:lnTo>
                    <a:pt x="733185" y="0"/>
                  </a:lnTo>
                  <a:lnTo>
                    <a:pt x="733185" y="458154"/>
                  </a:lnTo>
                  <a:lnTo>
                    <a:pt x="0" y="4581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4" t="0" r="-3017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733184" cy="467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08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73350" y="7714431"/>
            <a:ext cx="7947927" cy="38129"/>
            <a:chOff x="0" y="0"/>
            <a:chExt cx="10597236" cy="508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597261" cy="50800"/>
            </a:xfrm>
            <a:custGeom>
              <a:avLst/>
              <a:gdLst/>
              <a:ahLst/>
              <a:cxnLst/>
              <a:rect r="r" b="b" t="t" l="l"/>
              <a:pathLst>
                <a:path h="50800" w="10597261">
                  <a:moveTo>
                    <a:pt x="0" y="0"/>
                  </a:moveTo>
                  <a:lnTo>
                    <a:pt x="10597261" y="0"/>
                  </a:lnTo>
                  <a:lnTo>
                    <a:pt x="1059726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09DFF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273350" y="7918637"/>
            <a:ext cx="7947927" cy="43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Conclusão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5468" y="8763210"/>
            <a:ext cx="17055798" cy="59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85"/>
              </a:lnSpc>
            </a:pPr>
            <a:r>
              <a:rPr lang="en-US" sz="2702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2957921"/>
            <a:ext cx="6863191" cy="5445968"/>
            <a:chOff x="0" y="0"/>
            <a:chExt cx="9150922" cy="72612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7261264"/>
            </a:xfrm>
            <a:custGeom>
              <a:avLst/>
              <a:gdLst/>
              <a:ahLst/>
              <a:cxnLst/>
              <a:rect r="r" b="b" t="t" l="l"/>
              <a:pathLst>
                <a:path h="7261264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7261264"/>
                  </a:lnTo>
                  <a:lnTo>
                    <a:pt x="0" y="7261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517" r="0" b="-445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56835" y="3019101"/>
            <a:ext cx="6626819" cy="4959706"/>
            <a:chOff x="0" y="0"/>
            <a:chExt cx="8835758" cy="661294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35771" cy="6612890"/>
            </a:xfrm>
            <a:custGeom>
              <a:avLst/>
              <a:gdLst/>
              <a:ahLst/>
              <a:cxnLst/>
              <a:rect r="r" b="b" t="t" l="l"/>
              <a:pathLst>
                <a:path h="6612890" w="8835771">
                  <a:moveTo>
                    <a:pt x="0" y="0"/>
                  </a:moveTo>
                  <a:lnTo>
                    <a:pt x="8835771" y="0"/>
                  </a:lnTo>
                  <a:lnTo>
                    <a:pt x="8835771" y="6612890"/>
                  </a:lnTo>
                  <a:lnTo>
                    <a:pt x="0" y="6612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0" r="-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564" y="1005240"/>
            <a:ext cx="9277521" cy="149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 que é um Compilador e a Linguagem FluxLang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5801" y="2768432"/>
            <a:ext cx="4557732" cy="3483369"/>
            <a:chOff x="0" y="0"/>
            <a:chExt cx="6076975" cy="46444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76950" cy="4644390"/>
            </a:xfrm>
            <a:custGeom>
              <a:avLst/>
              <a:gdLst/>
              <a:ahLst/>
              <a:cxnLst/>
              <a:rect r="r" b="b" t="t" l="l"/>
              <a:pathLst>
                <a:path h="4644390" w="6076950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5944235" y="0"/>
                  </a:lnTo>
                  <a:cubicBezTo>
                    <a:pt x="6017514" y="0"/>
                    <a:pt x="6076950" y="59436"/>
                    <a:pt x="6076950" y="132715"/>
                  </a:cubicBezTo>
                  <a:lnTo>
                    <a:pt x="6076950" y="4511675"/>
                  </a:lnTo>
                  <a:cubicBezTo>
                    <a:pt x="6076950" y="4584954"/>
                    <a:pt x="6017514" y="4644390"/>
                    <a:pt x="5944235" y="4644390"/>
                  </a:cubicBezTo>
                  <a:lnTo>
                    <a:pt x="132715" y="4644390"/>
                  </a:lnTo>
                  <a:cubicBezTo>
                    <a:pt x="59436" y="4644517"/>
                    <a:pt x="0" y="4585081"/>
                    <a:pt x="0" y="4511802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26471" y="3000051"/>
            <a:ext cx="4056402" cy="38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 que é um Compilador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6471" y="3449441"/>
            <a:ext cx="4056402" cy="255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Programa tradutor que converte código-fonte de alto nível em código executável, validando rigorosamente semântica e sintaxe.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04964" y="2768432"/>
            <a:ext cx="4557884" cy="3483369"/>
            <a:chOff x="0" y="0"/>
            <a:chExt cx="6077179" cy="46444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77204" cy="4644390"/>
            </a:xfrm>
            <a:custGeom>
              <a:avLst/>
              <a:gdLst/>
              <a:ahLst/>
              <a:cxnLst/>
              <a:rect r="r" b="b" t="t" l="l"/>
              <a:pathLst>
                <a:path h="4644390" w="6077204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lnTo>
                    <a:pt x="5944489" y="0"/>
                  </a:lnTo>
                  <a:cubicBezTo>
                    <a:pt x="6017768" y="0"/>
                    <a:pt x="6077204" y="59436"/>
                    <a:pt x="6077204" y="132715"/>
                  </a:cubicBezTo>
                  <a:lnTo>
                    <a:pt x="6077204" y="4511675"/>
                  </a:lnTo>
                  <a:cubicBezTo>
                    <a:pt x="6077204" y="4584954"/>
                    <a:pt x="6017768" y="4644390"/>
                    <a:pt x="5944489" y="4644390"/>
                  </a:cubicBezTo>
                  <a:lnTo>
                    <a:pt x="132715" y="4644390"/>
                  </a:lnTo>
                  <a:cubicBezTo>
                    <a:pt x="59436" y="4644517"/>
                    <a:pt x="0" y="4585081"/>
                    <a:pt x="0" y="4511802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055633" y="3000051"/>
            <a:ext cx="4056555" cy="38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 Linguagem FluxLang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5633" y="3449441"/>
            <a:ext cx="4056555" cy="255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Linguagem tipada projetada para automação de tarefas, com fluxos reutilizáveis (</a:t>
            </a:r>
            <a:r>
              <a:rPr lang="en-US" sz="2326" i="true">
                <a:solidFill>
                  <a:srgbClr val="E2E6E9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workflows</a:t>
            </a: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) e tratamento de erros explícito e obrigatório na sintaxe.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5801" y="6423231"/>
            <a:ext cx="9287056" cy="2231336"/>
            <a:chOff x="0" y="0"/>
            <a:chExt cx="12382741" cy="29751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82753" cy="2975102"/>
            </a:xfrm>
            <a:custGeom>
              <a:avLst/>
              <a:gdLst/>
              <a:ahLst/>
              <a:cxnLst/>
              <a:rect r="r" b="b" t="t" l="l"/>
              <a:pathLst>
                <a:path h="2975102" w="12382753">
                  <a:moveTo>
                    <a:pt x="0" y="132969"/>
                  </a:moveTo>
                  <a:cubicBezTo>
                    <a:pt x="0" y="59563"/>
                    <a:pt x="59563" y="0"/>
                    <a:pt x="132969" y="0"/>
                  </a:cubicBezTo>
                  <a:lnTo>
                    <a:pt x="12249785" y="0"/>
                  </a:lnTo>
                  <a:cubicBezTo>
                    <a:pt x="12323191" y="0"/>
                    <a:pt x="12382753" y="59563"/>
                    <a:pt x="12382753" y="132969"/>
                  </a:cubicBezTo>
                  <a:lnTo>
                    <a:pt x="12382753" y="2842133"/>
                  </a:lnTo>
                  <a:cubicBezTo>
                    <a:pt x="12382753" y="2915539"/>
                    <a:pt x="12323191" y="2975102"/>
                    <a:pt x="12249785" y="2975102"/>
                  </a:cubicBezTo>
                  <a:lnTo>
                    <a:pt x="132969" y="2975102"/>
                  </a:lnTo>
                  <a:cubicBezTo>
                    <a:pt x="59563" y="2975102"/>
                    <a:pt x="0" y="2915539"/>
                    <a:pt x="0" y="2842133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471" y="6654851"/>
            <a:ext cx="8785717" cy="38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Principal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6471" y="7104240"/>
            <a:ext cx="8785717" cy="129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Facilitar a execução de rotinas complexas e repetitivas por meio de uma sintaxe clara e estruturas nativas de controle de fluxo.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72295" y="9210675"/>
            <a:ext cx="10192607" cy="46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23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4513" y="-64503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915133"/>
            <a:ext cx="16140713" cy="53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322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Exemplos de Programa: Validação de Código Correto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2464" y="1667880"/>
            <a:ext cx="6271603" cy="6959279"/>
            <a:chOff x="0" y="0"/>
            <a:chExt cx="8362137" cy="927903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362188" cy="9279001"/>
            </a:xfrm>
            <a:custGeom>
              <a:avLst/>
              <a:gdLst/>
              <a:ahLst/>
              <a:cxnLst/>
              <a:rect r="r" b="b" t="t" l="l"/>
              <a:pathLst>
                <a:path h="9279001" w="8362188">
                  <a:moveTo>
                    <a:pt x="0" y="0"/>
                  </a:moveTo>
                  <a:lnTo>
                    <a:pt x="8362188" y="0"/>
                  </a:lnTo>
                  <a:lnTo>
                    <a:pt x="8362188" y="9279001"/>
                  </a:lnTo>
                  <a:lnTo>
                    <a:pt x="0" y="9279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" r="0" b="-5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16127" y="2604652"/>
            <a:ext cx="412063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 que este código demonstra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6127" y="3226154"/>
            <a:ext cx="5389121" cy="129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0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 algoritmo atende a </a:t>
            </a:r>
            <a:r>
              <a:rPr lang="en-US" sz="2099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100% das regras gramaticais e léxicas</a:t>
            </a:r>
            <a:r>
              <a:rPr lang="en-US" sz="20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da FluxLang, cobrindo os principais recursos da linguagem: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16127" y="4791378"/>
            <a:ext cx="5389121" cy="251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993" indent="-187996" lvl="1">
              <a:lnSpc>
                <a:spcPts val="2540"/>
              </a:lnSpc>
              <a:buFont typeface="Arial"/>
              <a:buChar char="•"/>
            </a:pPr>
            <a:r>
              <a:rPr lang="en-US" sz="20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Declaração de variáveis simples, listas estruturadas e objetos</a:t>
            </a:r>
          </a:p>
          <a:p>
            <a:pPr algn="l" marL="375993" indent="-187996" lvl="1">
              <a:lnSpc>
                <a:spcPts val="2540"/>
              </a:lnSpc>
              <a:buFont typeface="Arial"/>
              <a:buChar char="•"/>
            </a:pPr>
            <a:r>
              <a:rPr lang="en-US" sz="20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Estruturas de repetição integradas: while e for</a:t>
            </a:r>
          </a:p>
          <a:p>
            <a:pPr algn="l" marL="375993" indent="-187996" lvl="1">
              <a:lnSpc>
                <a:spcPts val="2540"/>
              </a:lnSpc>
              <a:buFont typeface="Arial"/>
              <a:buChar char="•"/>
            </a:pPr>
            <a:r>
              <a:rPr lang="en-US" sz="20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Condicionais if/else com sintaxe completa</a:t>
            </a:r>
          </a:p>
          <a:p>
            <a:pPr algn="l" marL="375993" indent="-187996" lvl="1">
              <a:lnSpc>
                <a:spcPts val="2540"/>
              </a:lnSpc>
              <a:buFont typeface="Arial"/>
              <a:buChar char="•"/>
            </a:pPr>
            <a:r>
              <a:rPr lang="en-US" sz="20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Invocação de rotinas de automação via chamada de </a:t>
            </a:r>
            <a:r>
              <a:rPr lang="en-US" sz="2075" i="true">
                <a:solidFill>
                  <a:srgbClr val="E2E6E9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workflow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29177" y="9118284"/>
            <a:ext cx="171688" cy="34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85"/>
              </a:lnSpc>
            </a:pPr>
            <a:r>
              <a:rPr lang="en-US" sz="22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902322"/>
            <a:ext cx="16140713" cy="53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3227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Código Inválido e Captura de Erros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564" y="1608153"/>
            <a:ext cx="17055798" cy="25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576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OS 4 erros propositais. O compilador detecta todos.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564" y="2055285"/>
            <a:ext cx="7279663" cy="4976003"/>
            <a:chOff x="0" y="0"/>
            <a:chExt cx="9491104" cy="648763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491091" cy="6487668"/>
            </a:xfrm>
            <a:custGeom>
              <a:avLst/>
              <a:gdLst/>
              <a:ahLst/>
              <a:cxnLst/>
              <a:rect r="r" b="b" t="t" l="l"/>
              <a:pathLst>
                <a:path h="6487668" w="9491091">
                  <a:moveTo>
                    <a:pt x="0" y="0"/>
                  </a:moveTo>
                  <a:lnTo>
                    <a:pt x="9491091" y="0"/>
                  </a:lnTo>
                  <a:lnTo>
                    <a:pt x="9491091" y="6487668"/>
                  </a:lnTo>
                  <a:lnTo>
                    <a:pt x="0" y="6487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90210" y="2229039"/>
            <a:ext cx="8469090" cy="2314248"/>
            <a:chOff x="0" y="0"/>
            <a:chExt cx="10934827" cy="298803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34827" cy="2988056"/>
            </a:xfrm>
            <a:custGeom>
              <a:avLst/>
              <a:gdLst/>
              <a:ahLst/>
              <a:cxnLst/>
              <a:rect r="r" b="b" t="t" l="l"/>
              <a:pathLst>
                <a:path h="2988056" w="10934827">
                  <a:moveTo>
                    <a:pt x="0" y="0"/>
                  </a:moveTo>
                  <a:lnTo>
                    <a:pt x="10934827" y="0"/>
                  </a:lnTo>
                  <a:lnTo>
                    <a:pt x="10934827" y="2988056"/>
                  </a:lnTo>
                  <a:lnTo>
                    <a:pt x="0" y="2988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4" r="0" b="-15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080564" y="7117013"/>
            <a:ext cx="8026718" cy="935374"/>
          </a:xfrm>
          <a:custGeom>
            <a:avLst/>
            <a:gdLst/>
            <a:ahLst/>
            <a:cxnLst/>
            <a:rect r="r" b="b" t="t" l="l"/>
            <a:pathLst>
              <a:path h="935374" w="8026718">
                <a:moveTo>
                  <a:pt x="0" y="0"/>
                </a:moveTo>
                <a:lnTo>
                  <a:pt x="8026717" y="0"/>
                </a:lnTo>
                <a:lnTo>
                  <a:pt x="8026717" y="935374"/>
                </a:lnTo>
                <a:lnTo>
                  <a:pt x="0" y="93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87" r="0" b="-38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39872" y="7300065"/>
            <a:ext cx="7584357" cy="25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ERRO 1 — Sintático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9872" y="7608684"/>
            <a:ext cx="7584357" cy="25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Constante declarada sem a atribuição obrigatória de um valor inicial.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194416" y="7117013"/>
            <a:ext cx="8026860" cy="935374"/>
          </a:xfrm>
          <a:custGeom>
            <a:avLst/>
            <a:gdLst/>
            <a:ahLst/>
            <a:cxnLst/>
            <a:rect r="r" b="b" t="t" l="l"/>
            <a:pathLst>
              <a:path h="935374" w="8026860">
                <a:moveTo>
                  <a:pt x="0" y="0"/>
                </a:moveTo>
                <a:lnTo>
                  <a:pt x="8026860" y="0"/>
                </a:lnTo>
                <a:lnTo>
                  <a:pt x="8026860" y="935374"/>
                </a:lnTo>
                <a:lnTo>
                  <a:pt x="0" y="93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88" r="0" b="-39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453715" y="7300065"/>
            <a:ext cx="7584510" cy="25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ERRO 2 — Léxico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3715" y="7608684"/>
            <a:ext cx="7584510" cy="26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Uso de caractere especial não mapeado pelo Lexer: @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80564" y="8139522"/>
            <a:ext cx="8026718" cy="935374"/>
          </a:xfrm>
          <a:custGeom>
            <a:avLst/>
            <a:gdLst/>
            <a:ahLst/>
            <a:cxnLst/>
            <a:rect r="r" b="b" t="t" l="l"/>
            <a:pathLst>
              <a:path h="935374" w="8026718">
                <a:moveTo>
                  <a:pt x="0" y="0"/>
                </a:moveTo>
                <a:lnTo>
                  <a:pt x="8026717" y="0"/>
                </a:lnTo>
                <a:lnTo>
                  <a:pt x="8026717" y="935374"/>
                </a:lnTo>
                <a:lnTo>
                  <a:pt x="0" y="93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87" r="0" b="-38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39872" y="8322574"/>
            <a:ext cx="7584357" cy="25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ERRO 3 — Sintático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9872" y="8631184"/>
            <a:ext cx="7584357" cy="26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 if escrita sem os parênteses obrigatórios na condição.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194416" y="8139522"/>
            <a:ext cx="8026860" cy="935374"/>
          </a:xfrm>
          <a:custGeom>
            <a:avLst/>
            <a:gdLst/>
            <a:ahLst/>
            <a:cxnLst/>
            <a:rect r="r" b="b" t="t" l="l"/>
            <a:pathLst>
              <a:path h="935374" w="8026860">
                <a:moveTo>
                  <a:pt x="0" y="0"/>
                </a:moveTo>
                <a:lnTo>
                  <a:pt x="8026860" y="0"/>
                </a:lnTo>
                <a:lnTo>
                  <a:pt x="8026860" y="935374"/>
                </a:lnTo>
                <a:lnTo>
                  <a:pt x="0" y="93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88" r="0" b="-39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453715" y="8322574"/>
            <a:ext cx="7584510" cy="25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ERRO 4 — Sintático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3715" y="8631184"/>
            <a:ext cx="7584510" cy="26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5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Ausência do token delimitador ; ao final de uma instrução.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46245" y="9163374"/>
            <a:ext cx="175022" cy="31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0"/>
              </a:lnSpc>
            </a:pPr>
            <a:r>
              <a:rPr lang="en-US" sz="2075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908428"/>
            <a:ext cx="16140713" cy="62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752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As Etapas Teóricas de Análise do Compilador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564" y="3093905"/>
            <a:ext cx="7835027" cy="9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8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 processo de compilação é dividido em três fases sequenciais e interdependentes, cada uma responsável por um nível de validação do código-fonte.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564" y="4488004"/>
            <a:ext cx="7835027" cy="153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997" indent="-144999" lvl="1">
              <a:lnSpc>
                <a:spcPts val="2075"/>
              </a:lnSpc>
              <a:buFont typeface="Arial"/>
              <a:buChar char="•"/>
            </a:pPr>
            <a:r>
              <a:rPr lang="en-US" b="true" sz="160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Análise Léxica:</a:t>
            </a:r>
            <a:r>
              <a:rPr lang="en-US" sz="16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varredura do código-fonte e geração de tokens, as unidades mínimas de significado da linguagem.</a:t>
            </a:r>
          </a:p>
          <a:p>
            <a:pPr algn="l" marL="289997" indent="-144999" lvl="1">
              <a:lnSpc>
                <a:spcPts val="2075"/>
              </a:lnSpc>
              <a:buFont typeface="Arial"/>
              <a:buChar char="•"/>
            </a:pPr>
            <a:r>
              <a:rPr lang="en-US" b="true" sz="160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Análise Sintática:</a:t>
            </a:r>
            <a:r>
              <a:rPr lang="en-US" sz="16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601" i="true">
                <a:solidFill>
                  <a:srgbClr val="E2E6E9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valida a sequência de tokens contra a gramática formal da FluxLang (131 regras).</a:t>
            </a:r>
          </a:p>
          <a:p>
            <a:pPr algn="l" marL="289997" indent="-144999" lvl="1">
              <a:lnSpc>
                <a:spcPts val="2075"/>
              </a:lnSpc>
              <a:buFont typeface="Arial"/>
              <a:buChar char="•"/>
            </a:pPr>
            <a:r>
              <a:rPr lang="en-US" b="true" sz="160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Análise Semântica:</a:t>
            </a:r>
            <a:r>
              <a:rPr lang="en-US" sz="16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validação de tipos, escopo e inicialização de variáveis documentada.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33937" y="2539163"/>
            <a:ext cx="5578224" cy="3963356"/>
            <a:chOff x="0" y="0"/>
            <a:chExt cx="6406642" cy="455195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406642" cy="4551933"/>
            </a:xfrm>
            <a:custGeom>
              <a:avLst/>
              <a:gdLst/>
              <a:ahLst/>
              <a:cxnLst/>
              <a:rect r="r" b="b" t="t" l="l"/>
              <a:pathLst>
                <a:path h="4551933" w="6406642">
                  <a:moveTo>
                    <a:pt x="0" y="0"/>
                  </a:moveTo>
                  <a:lnTo>
                    <a:pt x="6406642" y="0"/>
                  </a:lnTo>
                  <a:lnTo>
                    <a:pt x="6406642" y="4551933"/>
                  </a:lnTo>
                  <a:lnTo>
                    <a:pt x="0" y="4551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372" r="0" b="-2037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80564" y="6958994"/>
            <a:ext cx="16140713" cy="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Controle de Erros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80565" y="7511271"/>
          <a:ext cx="16109836" cy="1353608"/>
        </p:xfrm>
        <a:graphic>
          <a:graphicData uri="http://schemas.openxmlformats.org/drawingml/2006/table">
            <a:tbl>
              <a:tblPr/>
              <a:tblGrid>
                <a:gridCol w="4516801"/>
                <a:gridCol w="5156658"/>
                <a:gridCol w="6436377"/>
              </a:tblGrid>
              <a:tr h="4120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E2E6E9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Tipo de Erro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E2E6E9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Localização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1"/>
                        </a:lnSpc>
                        <a:defRPr/>
                      </a:pPr>
                      <a:r>
                        <a:rPr lang="en-US" sz="1501" b="true">
                          <a:solidFill>
                            <a:srgbClr val="E2E6E9"/>
                          </a:solidFill>
                          <a:latin typeface="Merriweather Bold"/>
                          <a:ea typeface="Merriweather Bold"/>
                          <a:cs typeface="Merriweather Bold"/>
                          <a:sym typeface="Merriweather Bold"/>
                        </a:rPr>
                        <a:t>Detalhes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9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Erro Léxico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[linha 24, coluna 24]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Caractere não reconhecido: '@'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Erro Sintático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[linha 7, coluna 20]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Token encontrado: ';' / Esperado: '='</a:t>
                      </a:r>
                      <a:endParaRPr lang="en-US" sz="1100"/>
                    </a:p>
                  </a:txBody>
                  <a:tcPr marL="128555" marR="128555" marT="128555" marB="128555" anchor="ctr">
                    <a:lnL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65468" y="9034834"/>
            <a:ext cx="17055798" cy="32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1"/>
              </a:lnSpc>
            </a:pPr>
            <a:r>
              <a:rPr lang="en-US" sz="207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892340"/>
            <a:ext cx="16140713" cy="69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 Gramática Formal em Backus-Naur (BNF)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06092" y="1990496"/>
            <a:ext cx="5054756" cy="6679863"/>
            <a:chOff x="0" y="0"/>
            <a:chExt cx="6739674" cy="890648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739636" cy="8906510"/>
            </a:xfrm>
            <a:custGeom>
              <a:avLst/>
              <a:gdLst/>
              <a:ahLst/>
              <a:cxnLst/>
              <a:rect r="r" b="b" t="t" l="l"/>
              <a:pathLst>
                <a:path h="8906510" w="6739636">
                  <a:moveTo>
                    <a:pt x="0" y="0"/>
                  </a:moveTo>
                  <a:lnTo>
                    <a:pt x="6739636" y="0"/>
                  </a:lnTo>
                  <a:lnTo>
                    <a:pt x="6739636" y="8906510"/>
                  </a:lnTo>
                  <a:lnTo>
                    <a:pt x="0" y="8906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1" t="0" r="-5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25691" y="3103426"/>
            <a:ext cx="5304968" cy="35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 que é a BNF?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25691" y="3576037"/>
            <a:ext cx="5304968" cy="151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 </a:t>
            </a:r>
            <a:r>
              <a:rPr lang="en-US" sz="2101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Forma de Backus-Naur (BNF)</a:t>
            </a:r>
            <a:r>
              <a:rPr lang="en-US" sz="21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é uma notação formal usada para descrever a sintaxe de linguagens de programação de maneira precisa e não ambígua.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5691" y="5226329"/>
            <a:ext cx="5304968" cy="35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Como foi aplicada na FluxLang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5691" y="5717991"/>
            <a:ext cx="5304968" cy="19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9075" indent="-149537" lvl="1">
              <a:lnSpc>
                <a:spcPts val="2258"/>
              </a:lnSpc>
              <a:buFont typeface="Arial"/>
              <a:buChar char="•"/>
            </a:pPr>
            <a:r>
              <a:rPr lang="en-US" sz="16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Regras de derivação para estruturas de repetição (while, for)</a:t>
            </a:r>
          </a:p>
          <a:p>
            <a:pPr algn="l" marL="299075" indent="-149537" lvl="1">
              <a:lnSpc>
                <a:spcPts val="2258"/>
              </a:lnSpc>
              <a:buFont typeface="Arial"/>
              <a:buChar char="•"/>
            </a:pPr>
            <a:r>
              <a:rPr lang="en-US" sz="16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Produções para condicionais if/else com parênteses obrigatórios</a:t>
            </a:r>
          </a:p>
          <a:p>
            <a:pPr algn="l" marL="299075" indent="-149537" lvl="1">
              <a:lnSpc>
                <a:spcPts val="2258"/>
              </a:lnSpc>
              <a:buFont typeface="Arial"/>
              <a:buChar char="•"/>
            </a:pPr>
            <a:r>
              <a:rPr lang="en-US" sz="16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Definição de tipos, declarações e chamadas de </a:t>
            </a:r>
            <a:r>
              <a:rPr lang="en-US" sz="1651" i="true">
                <a:solidFill>
                  <a:srgbClr val="E2E6E9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468" y="8975722"/>
            <a:ext cx="17055798" cy="35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5"/>
              </a:lnSpc>
            </a:pPr>
            <a:r>
              <a:rPr lang="en-US" sz="21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1085374"/>
            <a:ext cx="16140713" cy="84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 Implementação Técnica do Compilador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80564" y="2389670"/>
            <a:ext cx="530676" cy="530685"/>
          </a:xfrm>
          <a:custGeom>
            <a:avLst/>
            <a:gdLst/>
            <a:ahLst/>
            <a:cxnLst/>
            <a:rect r="r" b="b" t="t" l="l"/>
            <a:pathLst>
              <a:path h="530685" w="530676">
                <a:moveTo>
                  <a:pt x="0" y="0"/>
                </a:moveTo>
                <a:lnTo>
                  <a:pt x="530675" y="0"/>
                </a:lnTo>
                <a:lnTo>
                  <a:pt x="530675" y="530685"/>
                </a:lnTo>
                <a:lnTo>
                  <a:pt x="0" y="530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87" t="0" r="-178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0564" y="3195761"/>
            <a:ext cx="7927819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Ferramentas Utilizadas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564" y="3689852"/>
            <a:ext cx="7927819" cy="154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Uso de </a:t>
            </a:r>
            <a:r>
              <a:rPr lang="en-US" sz="2551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Flex</a:t>
            </a: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 </a:t>
            </a:r>
            <a:r>
              <a:rPr lang="en-US" sz="2551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Bison</a:t>
            </a: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(gramática na sintaxe Yacc) para gerar o Lexer e o Parser, com implementação em </a:t>
            </a:r>
            <a:r>
              <a:rPr lang="en-US" sz="2551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</a:t>
            </a: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 build automatizado via </a:t>
            </a:r>
            <a:r>
              <a:rPr lang="en-US" sz="2551" b="true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Makefile</a:t>
            </a: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293304" y="2389670"/>
            <a:ext cx="530676" cy="530685"/>
          </a:xfrm>
          <a:custGeom>
            <a:avLst/>
            <a:gdLst/>
            <a:ahLst/>
            <a:cxnLst/>
            <a:rect r="r" b="b" t="t" l="l"/>
            <a:pathLst>
              <a:path h="530685" w="530676">
                <a:moveTo>
                  <a:pt x="0" y="0"/>
                </a:moveTo>
                <a:lnTo>
                  <a:pt x="530676" y="0"/>
                </a:lnTo>
                <a:lnTo>
                  <a:pt x="530676" y="530685"/>
                </a:lnTo>
                <a:lnTo>
                  <a:pt x="0" y="530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2" r="0" b="-89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93304" y="3195761"/>
            <a:ext cx="7927972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Analisador Léxico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3304" y="3689852"/>
            <a:ext cx="7927972" cy="154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Mapeamento de tokens e palavras reservadas, com expressões regulares que reconhecem identificadores, literais e operadores da FluxLang.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80564" y="5692511"/>
            <a:ext cx="530676" cy="530685"/>
          </a:xfrm>
          <a:custGeom>
            <a:avLst/>
            <a:gdLst/>
            <a:ahLst/>
            <a:cxnLst/>
            <a:rect r="r" b="b" t="t" l="l"/>
            <a:pathLst>
              <a:path h="530685" w="530676">
                <a:moveTo>
                  <a:pt x="0" y="0"/>
                </a:moveTo>
                <a:lnTo>
                  <a:pt x="530675" y="0"/>
                </a:lnTo>
                <a:lnTo>
                  <a:pt x="530675" y="530686"/>
                </a:lnTo>
                <a:lnTo>
                  <a:pt x="0" y="53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499" r="0" b="-1249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80564" y="6498603"/>
            <a:ext cx="7927819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Parser Sintático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564" y="6992703"/>
            <a:ext cx="7927819" cy="154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Integração com o Lexer para leitura via entrada padrão, construindo a árvore sintática e disparando erros com localização precisa.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293304" y="5692511"/>
            <a:ext cx="530676" cy="530685"/>
          </a:xfrm>
          <a:custGeom>
            <a:avLst/>
            <a:gdLst/>
            <a:ahLst/>
            <a:cxnLst/>
            <a:rect r="r" b="b" t="t" l="l"/>
            <a:pathLst>
              <a:path h="530685" w="530676">
                <a:moveTo>
                  <a:pt x="0" y="0"/>
                </a:moveTo>
                <a:lnTo>
                  <a:pt x="530676" y="0"/>
                </a:lnTo>
                <a:lnTo>
                  <a:pt x="530676" y="530686"/>
                </a:lnTo>
                <a:lnTo>
                  <a:pt x="0" y="530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823" t="0" r="-982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293304" y="6498603"/>
            <a:ext cx="7927972" cy="4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Entrada e Saída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3304" y="6992703"/>
            <a:ext cx="7927972" cy="154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255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Compilador operando via terminal, recebendo código-fonte pela entrada padrão e emitindo mensagens de erro customizadas em português.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468" y="8729091"/>
            <a:ext cx="17055798" cy="46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15"/>
              </a:lnSpc>
            </a:pPr>
            <a:r>
              <a:rPr lang="en-US" sz="2026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43755" y="903503"/>
            <a:ext cx="9277521" cy="157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Demonstração Prática de Compilação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38992" y="2781691"/>
            <a:ext cx="4546416" cy="3772910"/>
            <a:chOff x="0" y="0"/>
            <a:chExt cx="6061888" cy="50305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61837" cy="5030597"/>
            </a:xfrm>
            <a:custGeom>
              <a:avLst/>
              <a:gdLst/>
              <a:ahLst/>
              <a:cxnLst/>
              <a:rect r="r" b="b" t="t" l="l"/>
              <a:pathLst>
                <a:path h="5030597" w="6061837">
                  <a:moveTo>
                    <a:pt x="0" y="140843"/>
                  </a:moveTo>
                  <a:cubicBezTo>
                    <a:pt x="0" y="63119"/>
                    <a:pt x="63119" y="0"/>
                    <a:pt x="140843" y="0"/>
                  </a:cubicBezTo>
                  <a:lnTo>
                    <a:pt x="5920994" y="0"/>
                  </a:lnTo>
                  <a:cubicBezTo>
                    <a:pt x="5998845" y="0"/>
                    <a:pt x="6061837" y="63119"/>
                    <a:pt x="6061837" y="140843"/>
                  </a:cubicBezTo>
                  <a:lnTo>
                    <a:pt x="6061837" y="4889754"/>
                  </a:lnTo>
                  <a:cubicBezTo>
                    <a:pt x="6061837" y="4967605"/>
                    <a:pt x="5998718" y="5030597"/>
                    <a:pt x="5920994" y="5030597"/>
                  </a:cubicBezTo>
                  <a:lnTo>
                    <a:pt x="140843" y="5030597"/>
                  </a:lnTo>
                  <a:cubicBezTo>
                    <a:pt x="63119" y="5030597"/>
                    <a:pt x="0" y="4967478"/>
                    <a:pt x="0" y="4889754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04102" y="3037284"/>
            <a:ext cx="4016188" cy="40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✅</a:t>
            </a: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Código Válido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4102" y="3503962"/>
            <a:ext cx="4016188" cy="233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Execução ao vivo do compilador processando variáveis, loops e chamadas de </a:t>
            </a:r>
            <a:r>
              <a:rPr lang="en-US" sz="2401" i="true">
                <a:solidFill>
                  <a:srgbClr val="E2E6E9"/>
                </a:solidFill>
                <a:latin typeface="Merriweather Italics"/>
                <a:ea typeface="Merriweather Italics"/>
                <a:cs typeface="Merriweather Italics"/>
                <a:sym typeface="Merriweather Italics"/>
              </a:rPr>
              <a:t>workflow</a:t>
            </a: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sem erros.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79623" y="2781691"/>
            <a:ext cx="4546416" cy="3772910"/>
            <a:chOff x="0" y="0"/>
            <a:chExt cx="6061888" cy="50305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61837" cy="5030597"/>
            </a:xfrm>
            <a:custGeom>
              <a:avLst/>
              <a:gdLst/>
              <a:ahLst/>
              <a:cxnLst/>
              <a:rect r="r" b="b" t="t" l="l"/>
              <a:pathLst>
                <a:path h="5030597" w="6061837">
                  <a:moveTo>
                    <a:pt x="0" y="140843"/>
                  </a:moveTo>
                  <a:cubicBezTo>
                    <a:pt x="0" y="63119"/>
                    <a:pt x="63119" y="0"/>
                    <a:pt x="140843" y="0"/>
                  </a:cubicBezTo>
                  <a:lnTo>
                    <a:pt x="5920994" y="0"/>
                  </a:lnTo>
                  <a:cubicBezTo>
                    <a:pt x="5998845" y="0"/>
                    <a:pt x="6061837" y="63119"/>
                    <a:pt x="6061837" y="140843"/>
                  </a:cubicBezTo>
                  <a:lnTo>
                    <a:pt x="6061837" y="4889754"/>
                  </a:lnTo>
                  <a:cubicBezTo>
                    <a:pt x="6061837" y="4967605"/>
                    <a:pt x="5998718" y="5030597"/>
                    <a:pt x="5920994" y="5030597"/>
                  </a:cubicBezTo>
                  <a:lnTo>
                    <a:pt x="140843" y="5030597"/>
                  </a:lnTo>
                  <a:cubicBezTo>
                    <a:pt x="63119" y="5030597"/>
                    <a:pt x="0" y="4967478"/>
                    <a:pt x="0" y="4889754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944742" y="3037284"/>
            <a:ext cx="4016188" cy="40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⚠️</a:t>
            </a: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Código Inválido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44742" y="3503962"/>
            <a:ext cx="4016188" cy="278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Comprovação da interceptação de falhas com mensagens de erro customizadas, apontando linha e token problemático.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38992" y="6748824"/>
            <a:ext cx="9287056" cy="1954006"/>
            <a:chOff x="0" y="0"/>
            <a:chExt cx="12382741" cy="26053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82754" cy="2605405"/>
            </a:xfrm>
            <a:custGeom>
              <a:avLst/>
              <a:gdLst/>
              <a:ahLst/>
              <a:cxnLst/>
              <a:rect r="r" b="b" t="t" l="l"/>
              <a:pathLst>
                <a:path h="2605405" w="12382754">
                  <a:moveTo>
                    <a:pt x="0" y="141224"/>
                  </a:moveTo>
                  <a:cubicBezTo>
                    <a:pt x="0" y="63246"/>
                    <a:pt x="63246" y="0"/>
                    <a:pt x="141224" y="0"/>
                  </a:cubicBezTo>
                  <a:lnTo>
                    <a:pt x="12241530" y="0"/>
                  </a:lnTo>
                  <a:cubicBezTo>
                    <a:pt x="12319508" y="0"/>
                    <a:pt x="12382754" y="63246"/>
                    <a:pt x="12382754" y="141224"/>
                  </a:cubicBezTo>
                  <a:lnTo>
                    <a:pt x="12382754" y="2464181"/>
                  </a:lnTo>
                  <a:cubicBezTo>
                    <a:pt x="12382754" y="2542159"/>
                    <a:pt x="12319508" y="2605405"/>
                    <a:pt x="12241530" y="2605405"/>
                  </a:cubicBezTo>
                  <a:lnTo>
                    <a:pt x="141224" y="2605405"/>
                  </a:lnTo>
                  <a:cubicBezTo>
                    <a:pt x="63246" y="2605278"/>
                    <a:pt x="0" y="2542159"/>
                    <a:pt x="0" y="2464181"/>
                  </a:cubicBezTo>
                  <a:close/>
                </a:path>
              </a:pathLst>
            </a:custGeom>
            <a:solidFill>
              <a:srgbClr val="003180"/>
            </a:solidFill>
            <a:ln w="9532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04102" y="7004418"/>
            <a:ext cx="8756818" cy="40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🖥️</a:t>
            </a: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Terminal Ao Vivo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04102" y="7471105"/>
            <a:ext cx="8756818" cy="96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Entrada padrão (stdin) sendo utilizada para alimentar o compilador em tempo real durante a apresentação.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28659" y="8870137"/>
            <a:ext cx="10192607" cy="41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87"/>
              </a:lnSpc>
            </a:pPr>
            <a:r>
              <a:rPr lang="en-US" sz="240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564" y="950433"/>
            <a:ext cx="16140713" cy="93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62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1504" y="2271551"/>
            <a:ext cx="5237350" cy="4671936"/>
            <a:chOff x="0" y="0"/>
            <a:chExt cx="6983133" cy="6229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3095" cy="6229223"/>
            </a:xfrm>
            <a:custGeom>
              <a:avLst/>
              <a:gdLst/>
              <a:ahLst/>
              <a:cxnLst/>
              <a:rect r="r" b="b" t="t" l="l"/>
              <a:pathLst>
                <a:path h="6229223" w="6983095">
                  <a:moveTo>
                    <a:pt x="0" y="163449"/>
                  </a:moveTo>
                  <a:cubicBezTo>
                    <a:pt x="0" y="73152"/>
                    <a:pt x="73152" y="0"/>
                    <a:pt x="163449" y="0"/>
                  </a:cubicBezTo>
                  <a:lnTo>
                    <a:pt x="6819646" y="0"/>
                  </a:lnTo>
                  <a:cubicBezTo>
                    <a:pt x="6909943" y="0"/>
                    <a:pt x="6983095" y="73152"/>
                    <a:pt x="6983095" y="163449"/>
                  </a:cubicBezTo>
                  <a:lnTo>
                    <a:pt x="6983095" y="6065774"/>
                  </a:lnTo>
                  <a:cubicBezTo>
                    <a:pt x="6983095" y="6156071"/>
                    <a:pt x="6909943" y="6229223"/>
                    <a:pt x="6819646" y="6229223"/>
                  </a:cubicBezTo>
                  <a:lnTo>
                    <a:pt x="163449" y="6229223"/>
                  </a:lnTo>
                  <a:cubicBezTo>
                    <a:pt x="73152" y="6229223"/>
                    <a:pt x="0" y="6156071"/>
                    <a:pt x="0" y="6065774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38128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08090" y="2608621"/>
            <a:ext cx="4544177" cy="46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 que foi construído: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090" y="3147412"/>
            <a:ext cx="4544177" cy="344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Um compilador funcional para a FluxLang, cobrindo todas as fases teóricas  da análise léxica à semântica  com tratamento robusto de erros.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32093" y="2271551"/>
            <a:ext cx="5237502" cy="4671936"/>
            <a:chOff x="0" y="0"/>
            <a:chExt cx="6983336" cy="62292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3349" cy="6229223"/>
            </a:xfrm>
            <a:custGeom>
              <a:avLst/>
              <a:gdLst/>
              <a:ahLst/>
              <a:cxnLst/>
              <a:rect r="r" b="b" t="t" l="l"/>
              <a:pathLst>
                <a:path h="6229223" w="6983349">
                  <a:moveTo>
                    <a:pt x="0" y="163449"/>
                  </a:moveTo>
                  <a:cubicBezTo>
                    <a:pt x="0" y="73152"/>
                    <a:pt x="73152" y="0"/>
                    <a:pt x="163449" y="0"/>
                  </a:cubicBezTo>
                  <a:lnTo>
                    <a:pt x="6819900" y="0"/>
                  </a:lnTo>
                  <a:cubicBezTo>
                    <a:pt x="6910197" y="0"/>
                    <a:pt x="6983349" y="73152"/>
                    <a:pt x="6983349" y="163449"/>
                  </a:cubicBezTo>
                  <a:lnTo>
                    <a:pt x="6983349" y="6065774"/>
                  </a:lnTo>
                  <a:cubicBezTo>
                    <a:pt x="6983349" y="6156071"/>
                    <a:pt x="6910197" y="6229223"/>
                    <a:pt x="6819900" y="6229223"/>
                  </a:cubicBezTo>
                  <a:lnTo>
                    <a:pt x="163449" y="6229223"/>
                  </a:lnTo>
                  <a:cubicBezTo>
                    <a:pt x="73152" y="6229223"/>
                    <a:pt x="0" y="6156071"/>
                    <a:pt x="0" y="6065774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38128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878679" y="2608621"/>
            <a:ext cx="4544330" cy="46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Principais Desafios: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8679" y="3147412"/>
            <a:ext cx="4544330" cy="344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Construção das fases léxica e sintática, definição da gramática BNF e integração das ferramentas de geração de analisadores.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02834" y="2271551"/>
            <a:ext cx="5237502" cy="4671936"/>
            <a:chOff x="0" y="0"/>
            <a:chExt cx="6983336" cy="6229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3349" cy="6229223"/>
            </a:xfrm>
            <a:custGeom>
              <a:avLst/>
              <a:gdLst/>
              <a:ahLst/>
              <a:cxnLst/>
              <a:rect r="r" b="b" t="t" l="l"/>
              <a:pathLst>
                <a:path h="6229223" w="6983349">
                  <a:moveTo>
                    <a:pt x="0" y="163449"/>
                  </a:moveTo>
                  <a:cubicBezTo>
                    <a:pt x="0" y="73152"/>
                    <a:pt x="73152" y="0"/>
                    <a:pt x="163449" y="0"/>
                  </a:cubicBezTo>
                  <a:lnTo>
                    <a:pt x="6819900" y="0"/>
                  </a:lnTo>
                  <a:cubicBezTo>
                    <a:pt x="6910197" y="0"/>
                    <a:pt x="6983349" y="73152"/>
                    <a:pt x="6983349" y="163449"/>
                  </a:cubicBezTo>
                  <a:lnTo>
                    <a:pt x="6983349" y="6065774"/>
                  </a:lnTo>
                  <a:cubicBezTo>
                    <a:pt x="6983349" y="6156071"/>
                    <a:pt x="6910197" y="6229223"/>
                    <a:pt x="6819900" y="6229223"/>
                  </a:cubicBezTo>
                  <a:lnTo>
                    <a:pt x="163449" y="6229223"/>
                  </a:lnTo>
                  <a:cubicBezTo>
                    <a:pt x="73152" y="6229223"/>
                    <a:pt x="0" y="6156071"/>
                    <a:pt x="0" y="6065774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38128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9420" y="2608621"/>
            <a:ext cx="4544330" cy="46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Aprendizados: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9420" y="3147412"/>
            <a:ext cx="4544330" cy="344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Compreensão prática de como linguagens de programação são projetadas, analisadas e transformadas em código executável.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564" y="7229618"/>
            <a:ext cx="16140713" cy="1220600"/>
            <a:chOff x="0" y="0"/>
            <a:chExt cx="21520950" cy="16274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20913" cy="1627378"/>
            </a:xfrm>
            <a:custGeom>
              <a:avLst/>
              <a:gdLst/>
              <a:ahLst/>
              <a:cxnLst/>
              <a:rect r="r" b="b" t="t" l="l"/>
              <a:pathLst>
                <a:path h="1627378" w="21520913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21358861" y="0"/>
                  </a:lnTo>
                  <a:cubicBezTo>
                    <a:pt x="21448396" y="0"/>
                    <a:pt x="21520913" y="72517"/>
                    <a:pt x="21520913" y="162052"/>
                  </a:cubicBezTo>
                  <a:lnTo>
                    <a:pt x="21520913" y="1465326"/>
                  </a:lnTo>
                  <a:cubicBezTo>
                    <a:pt x="21520913" y="1554861"/>
                    <a:pt x="21448396" y="1627378"/>
                    <a:pt x="21358861" y="1627378"/>
                  </a:cubicBezTo>
                  <a:lnTo>
                    <a:pt x="162052" y="1627378"/>
                  </a:lnTo>
                  <a:cubicBezTo>
                    <a:pt x="72517" y="1627505"/>
                    <a:pt x="0" y="1554861"/>
                    <a:pt x="0" y="1465326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69952" y="7656938"/>
            <a:ext cx="452180" cy="361788"/>
            <a:chOff x="0" y="0"/>
            <a:chExt cx="602907" cy="48238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02869" cy="482346"/>
            </a:xfrm>
            <a:custGeom>
              <a:avLst/>
              <a:gdLst/>
              <a:ahLst/>
              <a:cxnLst/>
              <a:rect r="r" b="b" t="t" l="l"/>
              <a:pathLst>
                <a:path h="482346" w="602869">
                  <a:moveTo>
                    <a:pt x="0" y="0"/>
                  </a:moveTo>
                  <a:lnTo>
                    <a:pt x="602869" y="0"/>
                  </a:lnTo>
                  <a:lnTo>
                    <a:pt x="602869" y="482346"/>
                  </a:lnTo>
                  <a:lnTo>
                    <a:pt x="0" y="482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0" t="0" r="-539" b="-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111531" y="7487507"/>
            <a:ext cx="15735443" cy="6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2777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Obrigado a todos!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468" y="8669684"/>
            <a:ext cx="17055798" cy="5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9"/>
              </a:lnSpc>
            </a:pPr>
            <a:r>
              <a:rPr lang="en-US" sz="2777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DAHWt3h3uKw</dc:identifier>
  <dcterms:modified xsi:type="dcterms:W3CDTF">2011-08-01T06:04:30Z</dcterms:modified>
  <cp:revision>1</cp:revision>
  <dc:title>Construcao-de-Compiladores-A-Linguagem-FluxLang (8).pptx</dc:title>
</cp:coreProperties>
</file>